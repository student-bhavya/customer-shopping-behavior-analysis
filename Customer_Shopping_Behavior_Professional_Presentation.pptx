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77240" cy="54864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406640" cy="18288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CUSTOMER SHOPPING
BEHAVIOR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640080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100" b="0" i="0">
                <a:solidFill>
                  <a:srgbClr val="DEE9F6"/>
                </a:solidFill>
                <a:latin typeface="Aptos"/>
              </a:rPr>
              <a:t>A Data Analytics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64008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Python  •  SQL (MySQL)  • 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25880"/>
            <a:ext cx="2468880" cy="4069080"/>
          </a:xfrm>
          <a:prstGeom prst="roundRect">
            <a:avLst>
              <a:gd name="adj" fmla="val 12000"/>
            </a:avLst>
          </a:prstGeom>
          <a:solidFill>
            <a:srgbClr val="1C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79408" y="1645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54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755648"/>
            <a:ext cx="17373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3,900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93976"/>
            <a:ext cx="17373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900" b="0" i="0">
                <a:solidFill>
                  <a:srgbClr val="DEE9F6"/>
                </a:solidFill>
                <a:latin typeface="Aptos"/>
              </a:rPr>
              <a:t>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2788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54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898648"/>
            <a:ext cx="17373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$59.76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236976"/>
            <a:ext cx="17373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900" b="0" i="0">
                <a:solidFill>
                  <a:srgbClr val="DEE9F6"/>
                </a:solidFill>
                <a:latin typeface="Aptos"/>
              </a:rPr>
              <a:t>Avg. purchase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3931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54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4041648"/>
            <a:ext cx="17373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3.75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379976"/>
            <a:ext cx="17373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900" b="0" i="0">
                <a:solidFill>
                  <a:srgbClr val="DEE9F6"/>
                </a:solidFill>
                <a:latin typeface="Aptos"/>
              </a:rPr>
              <a:t>Avg.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365760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DEE9F6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14274A"/>
                </a:solidFill>
                <a:latin typeface="Aptos"/>
              </a:rPr>
              <a:t>Business Problem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0" cy="5029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900" b="0" i="0">
                <a:solidFill>
                  <a:srgbClr val="66748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800" b="0" i="0">
                <a:solidFill>
                  <a:srgbClr val="667488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THE BUSINESS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663440" cy="11887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14274A"/>
                </a:solidFill>
                <a:latin typeface="Aptos"/>
              </a:rPr>
              <a:t>Understand how customers shop so the business can make better decisions about products, promotions, and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98448"/>
            <a:ext cx="52120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MAIN BUSINESS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4592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901952"/>
            <a:ext cx="4937760" cy="9144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283344"/>
                </a:solidFill>
                <a:latin typeface="Aptos"/>
              </a:rPr>
              <a:t>How can customer shopping data reveal trends, improve engagement, and guide marketing and product strategy?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45720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ANALYSIS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429000" cy="155448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64008" cy="1554480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Spending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59"/>
            <a:ext cx="3063240" cy="960119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283344"/>
                </a:solidFill>
                <a:latin typeface="Aptos"/>
              </a:rPr>
              <a:t>Compare purchase amounts and revenue across customer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49039"/>
            <a:ext cx="3429000" cy="155448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749039"/>
            <a:ext cx="64008" cy="155448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86200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Product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51959"/>
            <a:ext cx="3063240" cy="960119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283344"/>
                </a:solidFill>
                <a:latin typeface="Aptos"/>
              </a:rPr>
              <a:t>Review product ratings and discount usage.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429000" cy="155448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749039"/>
            <a:ext cx="64008" cy="1554480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886200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Customer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51959"/>
            <a:ext cx="3063240" cy="960119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283344"/>
                </a:solidFill>
                <a:latin typeface="Aptos"/>
              </a:rPr>
              <a:t>Explore subscriptions, previous purchases, and age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14274A"/>
                </a:solidFill>
                <a:latin typeface="Aptos"/>
              </a:rPr>
              <a:t>Dataset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0" cy="5029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900" b="0" i="0">
                <a:solidFill>
                  <a:srgbClr val="66748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800" b="0" i="0">
                <a:solidFill>
                  <a:srgbClr val="667488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2800" b="1" i="0">
                <a:solidFill>
                  <a:srgbClr val="1F919C"/>
                </a:solidFill>
                <a:latin typeface="Aptos"/>
              </a:rPr>
              <a:t>3,900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200" b="0" i="0">
                <a:solidFill>
                  <a:srgbClr val="667488"/>
                </a:solidFill>
                <a:latin typeface="Aptos"/>
              </a:rP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00200"/>
            <a:ext cx="301752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2800" b="1" i="0">
                <a:solidFill>
                  <a:srgbClr val="2D5BA0"/>
                </a:solidFill>
                <a:latin typeface="Aptos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03120"/>
            <a:ext cx="30175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200" b="0" i="0">
                <a:solidFill>
                  <a:srgbClr val="667488"/>
                </a:solidFill>
                <a:latin typeface="Aptos"/>
              </a:rPr>
              <a:t>Original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301752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2800" b="1" i="0">
                <a:solidFill>
                  <a:srgbClr val="E24D5C"/>
                </a:solidFill>
                <a:latin typeface="Aptos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30175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200" b="0" i="0">
                <a:solidFill>
                  <a:srgbClr val="667488"/>
                </a:solidFill>
                <a:latin typeface="Aptos"/>
              </a:rPr>
              <a:t>Missing review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45720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KEY FIELDS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212080" cy="22860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3344"/>
                </a:solidFill>
                <a:latin typeface="Aptos"/>
              </a:defRPr>
            </a:pPr>
            <a:r>
              <a:t>•  Customer profile: age, gender, location</a:t>
            </a:r>
          </a:p>
          <a:p>
            <a:pPr>
              <a:spcAft>
                <a:spcPts val="1000"/>
              </a:spcAft>
              <a:defRPr sz="1400">
                <a:solidFill>
                  <a:srgbClr val="283344"/>
                </a:solidFill>
                <a:latin typeface="Aptos"/>
              </a:defRPr>
            </a:pPr>
            <a:r>
              <a:t>•  Purchase details: item, category, amount, season</a:t>
            </a:r>
          </a:p>
          <a:p>
            <a:pPr>
              <a:spcAft>
                <a:spcPts val="1000"/>
              </a:spcAft>
              <a:defRPr sz="1400">
                <a:solidFill>
                  <a:srgbClr val="283344"/>
                </a:solidFill>
                <a:latin typeface="Aptos"/>
              </a:defRPr>
            </a:pPr>
            <a:r>
              <a:t>•  Customer signals: rating, subscription, discounts</a:t>
            </a:r>
          </a:p>
          <a:p>
            <a:pPr>
              <a:spcAft>
                <a:spcPts val="1000"/>
              </a:spcAft>
              <a:defRPr sz="1400">
                <a:solidFill>
                  <a:srgbClr val="283344"/>
                </a:solidFill>
                <a:latin typeface="Aptos"/>
              </a:defRPr>
            </a:pPr>
            <a:r>
              <a:t>•  Behavior: previous purchases and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43891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ANALYTICAL TOOLKIT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456432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456432"/>
            <a:ext cx="109728" cy="566928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538727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1" i="0">
                <a:solidFill>
                  <a:srgbClr val="14274A"/>
                </a:solidFill>
                <a:latin typeface="Aptos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38727"/>
            <a:ext cx="2560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0" i="0">
                <a:solidFill>
                  <a:srgbClr val="283344"/>
                </a:solidFill>
                <a:latin typeface="Aptos"/>
              </a:rPr>
              <a:t>Cleaning &amp; feature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169663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169663"/>
            <a:ext cx="109728" cy="566928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251959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1" i="0">
                <a:solidFill>
                  <a:srgbClr val="14274A"/>
                </a:solidFill>
                <a:latin typeface="Aptos"/>
              </a:rPr>
              <a:t>SQL / 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51959"/>
            <a:ext cx="2560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0" i="0">
                <a:solidFill>
                  <a:srgbClr val="283344"/>
                </a:solidFill>
                <a:latin typeface="Aptos"/>
              </a:rPr>
              <a:t>Business questions &amp; aggregations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882896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4882896"/>
            <a:ext cx="109728" cy="566928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965192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1" i="0">
                <a:solidFill>
                  <a:srgbClr val="14274A"/>
                </a:solidFill>
                <a:latin typeface="Aptos"/>
              </a:rPr>
              <a:t>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965192"/>
            <a:ext cx="2560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0" i="0">
                <a:solidFill>
                  <a:srgbClr val="283344"/>
                </a:solidFill>
                <a:latin typeface="Aptos"/>
              </a:rPr>
              <a:t>Interactive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14274A"/>
                </a:solidFill>
                <a:latin typeface="Aptos"/>
              </a:rPr>
              <a:t>Python: Preparing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0" cy="5029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900" b="0" i="0">
                <a:solidFill>
                  <a:srgbClr val="66748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800" b="0" i="0">
                <a:solidFill>
                  <a:srgbClr val="667488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160020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8408" y="161848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64792"/>
            <a:ext cx="566928" cy="164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18488"/>
            <a:ext cx="374903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14274A"/>
                </a:solidFill>
                <a:latin typeface="Aptos"/>
              </a:rPr>
              <a:t>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29968"/>
            <a:ext cx="3840480" cy="7772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283344"/>
                </a:solidFill>
                <a:latin typeface="Aptos"/>
              </a:rPr>
              <a:t>Loaded the CSV and reviewed structure, summary statistics, and missing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417320"/>
            <a:ext cx="5074920" cy="160020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6247" y="161848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7" y="1764792"/>
            <a:ext cx="566928" cy="164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1618488"/>
            <a:ext cx="374903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14274A"/>
                </a:solidFill>
                <a:latin typeface="Aptos"/>
              </a:rPr>
              <a:t>Handle missing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029968"/>
            <a:ext cx="3840480" cy="7772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283344"/>
                </a:solidFill>
                <a:latin typeface="Aptos"/>
              </a:rPr>
              <a:t>Filled missing Review Rating values using the median within each product category.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5074920" cy="160020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" y="376732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913632"/>
            <a:ext cx="566928" cy="164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67328"/>
            <a:ext cx="374903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14274A"/>
                </a:solidFill>
                <a:latin typeface="Aptos"/>
              </a:rPr>
              <a:t>Standardize &amp;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78808"/>
            <a:ext cx="3840480" cy="7772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283344"/>
                </a:solidFill>
                <a:latin typeface="Aptos"/>
              </a:rPr>
              <a:t>Normalized column names and created age_group and purchase_frequency_days.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66160"/>
            <a:ext cx="5074920" cy="160020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7" y="376732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7" y="3913632"/>
            <a:ext cx="566928" cy="164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3767328"/>
            <a:ext cx="374903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14274A"/>
                </a:solidFill>
                <a:latin typeface="Aptos"/>
              </a:rPr>
              <a:t>Check 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178808"/>
            <a:ext cx="3840480" cy="7772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283344"/>
                </a:solidFill>
                <a:latin typeface="Aptos"/>
              </a:rPr>
              <a:t>Compared discount_applied and promo_code_used, then removed the duplicate column used in the tutorial.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1F919C"/>
                </a:solidFill>
                <a:latin typeface="Aptos"/>
              </a:rPr>
              <a:t>Outcome: a cleaned dataset ready for SQL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14274A"/>
                </a:solidFill>
                <a:latin typeface="Aptos"/>
              </a:rPr>
              <a:t>SQL: Business Questions Answered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0" cy="5029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900" b="0" i="0">
                <a:solidFill>
                  <a:srgbClr val="667488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800" b="0" i="0">
                <a:solidFill>
                  <a:srgbClr val="667488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731520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667488"/>
                </a:solidFill>
                <a:latin typeface="Aptos"/>
              </a:rPr>
              <a:t>Selected findings from the project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70915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Revenue by gender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709159" cy="75895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0" i="0">
                <a:solidFill>
                  <a:srgbClr val="283344"/>
                </a:solidFill>
                <a:latin typeface="Aptos"/>
              </a:rPr>
              <a:t>Male: $157,890
Female: $75,191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64008" cy="135331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70915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Average purchase by shipping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709159" cy="75895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0" i="0">
                <a:solidFill>
                  <a:srgbClr val="283344"/>
                </a:solidFill>
                <a:latin typeface="Aptos"/>
              </a:rPr>
              <a:t>Express: $60.48
Standard: $58.46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2900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29000"/>
            <a:ext cx="64008" cy="1353312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66160"/>
            <a:ext cx="470915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Top-rated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4709159" cy="75895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0" i="0">
                <a:solidFill>
                  <a:srgbClr val="283344"/>
                </a:solidFill>
                <a:latin typeface="Aptos"/>
              </a:rPr>
              <a:t>Gloves: 3.86 average rating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2900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429000"/>
            <a:ext cx="64008" cy="1353312"/>
          </a:xfrm>
          <a:prstGeom prst="rect">
            <a:avLst/>
          </a:prstGeom>
          <a:solidFill>
            <a:srgbClr val="EC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66160"/>
            <a:ext cx="4709159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Highest discount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4709159" cy="75895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0" i="0">
                <a:solidFill>
                  <a:srgbClr val="283344"/>
                </a:solidFill>
                <a:latin typeface="Aptos"/>
              </a:rPr>
              <a:t>Hats: 50.00%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42416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83344"/>
                </a:solidFill>
                <a:latin typeface="Aptos"/>
              </a:rPr>
              <a:t>Additional analysis covered customer segments, subscription status, and top products within each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14274A"/>
                </a:solidFill>
                <a:latin typeface="Aptos"/>
              </a:rPr>
              <a:t>Customer Segments &amp; Subscription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0" cy="5029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900" b="0" i="0">
                <a:solidFill>
                  <a:srgbClr val="667488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800" b="0" i="0">
                <a:solidFill>
                  <a:srgbClr val="667488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3891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SEGMENT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1887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1" i="0">
                <a:solidFill>
                  <a:srgbClr val="14274A"/>
                </a:solidFill>
                <a:latin typeface="Aptos"/>
              </a:rPr>
              <a:t>Loyal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783080"/>
            <a:ext cx="3383280" cy="347472"/>
          </a:xfrm>
          <a:prstGeom prst="roundRect">
            <a:avLst>
              <a:gd name="adj" fmla="val 12000"/>
            </a:avLst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783080"/>
            <a:ext cx="8229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1" i="0">
                <a:solidFill>
                  <a:srgbClr val="283344"/>
                </a:solidFill>
                <a:latin typeface="Aptos"/>
              </a:rPr>
              <a:t>3,116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1887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1" i="0">
                <a:solidFill>
                  <a:srgbClr val="14274A"/>
                </a:solidFill>
                <a:latin typeface="Aptos"/>
              </a:rPr>
              <a:t>Returning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743200"/>
            <a:ext cx="761129" cy="347472"/>
          </a:xfrm>
          <a:prstGeom prst="roundRect">
            <a:avLst>
              <a:gd name="adj" fmla="val 12000"/>
            </a:avLst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0"/>
            <a:ext cx="8229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1" i="0">
                <a:solidFill>
                  <a:srgbClr val="283344"/>
                </a:solidFill>
                <a:latin typeface="Aptos"/>
              </a:rPr>
              <a:t>701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11887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1" i="0">
                <a:solidFill>
                  <a:srgbClr val="14274A"/>
                </a:solidFill>
                <a:latin typeface="Aptos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3703320"/>
            <a:ext cx="90119" cy="347472"/>
          </a:xfrm>
          <a:prstGeom prst="roundRect">
            <a:avLst>
              <a:gd name="adj" fmla="val 12000"/>
            </a:avLst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703320"/>
            <a:ext cx="8229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1" i="0">
                <a:solidFill>
                  <a:srgbClr val="283344"/>
                </a:solidFill>
                <a:latin typeface="Aptos"/>
              </a:rPr>
              <a:t>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325880"/>
            <a:ext cx="484632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1F919C"/>
                </a:solidFill>
                <a:latin typeface="Aptos"/>
              </a:rPr>
              <a:t>SUBSCRIPTION STATUS AMONG RECORDS WITH &gt;5 PREVIOUS PURCHASES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74519"/>
            <a:ext cx="2148840" cy="128016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874519"/>
            <a:ext cx="64008" cy="128016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011679"/>
            <a:ext cx="17830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Subscribers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77439"/>
            <a:ext cx="1783080" cy="685799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700" b="0" i="0">
                <a:solidFill>
                  <a:srgbClr val="283344"/>
                </a:solidFill>
                <a:latin typeface="Aptos"/>
              </a:rPr>
              <a:t>958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874519"/>
            <a:ext cx="2148840" cy="128016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874519"/>
            <a:ext cx="64008" cy="1280160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011679"/>
            <a:ext cx="17830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14274A"/>
                </a:solidFill>
                <a:latin typeface="Aptos"/>
              </a:rPr>
              <a:t>Non-subscribers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377439"/>
            <a:ext cx="1783080" cy="685799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700" b="0" i="0">
                <a:solidFill>
                  <a:srgbClr val="283344"/>
                </a:solidFill>
                <a:latin typeface="Aptos"/>
              </a:rPr>
              <a:t>2,518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520440"/>
            <a:ext cx="4572000" cy="1417320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703320"/>
            <a:ext cx="41148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1" i="0">
                <a:solidFill>
                  <a:srgbClr val="14274A"/>
                </a:solidFill>
                <a:latin typeface="Aptos"/>
              </a:rPr>
              <a:t>Revenue comparison by subscription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114800"/>
            <a:ext cx="3931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283344"/>
                </a:solidFill>
                <a:latin typeface="Aptos"/>
              </a:rPr>
              <a:t>Non-subscribers: $170,436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480560"/>
            <a:ext cx="3931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283344"/>
                </a:solidFill>
                <a:latin typeface="Aptos"/>
              </a:rPr>
              <a:t>Subscribers: $62,645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15000"/>
            <a:ext cx="96012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0" i="1">
                <a:solidFill>
                  <a:srgbClr val="667488"/>
                </a:solidFill>
                <a:latin typeface="Aptos"/>
              </a:rPr>
              <a:t>Segment thresholds are rule-based groupings used for this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14274A"/>
                </a:solidFill>
                <a:latin typeface="Aptos"/>
              </a:rPr>
              <a:t>Power BI: 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0" cy="5029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900" b="0" i="0">
                <a:solidFill>
                  <a:srgbClr val="667488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800" b="0" i="0">
                <a:solidFill>
                  <a:srgbClr val="667488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14274A"/>
                </a:solidFill>
                <a:latin typeface="Aptos"/>
              </a:rPr>
              <a:t>The dashboard brings key metrics and filters into one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1060704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10241280" cy="411480"/>
          </a:xfrm>
          <a:prstGeom prst="roundRect">
            <a:avLst>
              <a:gd name="adj" fmla="val 12000"/>
            </a:avLst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20824"/>
            <a:ext cx="98755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CUSTOMER BEHAVIOR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514600"/>
            <a:ext cx="2834640" cy="658368"/>
          </a:xfrm>
          <a:prstGeom prst="roundRect">
            <a:avLst>
              <a:gd name="adj" fmla="val 12000"/>
            </a:avLst>
          </a:prstGeom>
          <a:solidFill>
            <a:srgbClr val="DE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606040"/>
            <a:ext cx="25603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800" b="1" i="0">
                <a:solidFill>
                  <a:srgbClr val="14274A"/>
                </a:solidFill>
                <a:latin typeface="Aptos"/>
              </a:rPr>
              <a:t>3.9K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898648"/>
            <a:ext cx="2560320" cy="164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900" b="0" i="0">
                <a:solidFill>
                  <a:srgbClr val="667488"/>
                </a:solidFill>
                <a:latin typeface="Aptos"/>
              </a:rPr>
              <a:t>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2514600"/>
            <a:ext cx="2834640" cy="658368"/>
          </a:xfrm>
          <a:prstGeom prst="roundRect">
            <a:avLst>
              <a:gd name="adj" fmla="val 12000"/>
            </a:avLst>
          </a:prstGeom>
          <a:solidFill>
            <a:srgbClr val="DE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606040"/>
            <a:ext cx="25603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800" b="1" i="0">
                <a:solidFill>
                  <a:srgbClr val="14274A"/>
                </a:solidFill>
                <a:latin typeface="Aptos"/>
              </a:rPr>
              <a:t>$59.76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98648"/>
            <a:ext cx="2560320" cy="164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900" b="0" i="0">
                <a:solidFill>
                  <a:srgbClr val="667488"/>
                </a:solidFill>
                <a:latin typeface="Aptos"/>
              </a:rPr>
              <a:t>Avg purchase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514600"/>
            <a:ext cx="2834640" cy="658368"/>
          </a:xfrm>
          <a:prstGeom prst="roundRect">
            <a:avLst>
              <a:gd name="adj" fmla="val 12000"/>
            </a:avLst>
          </a:prstGeom>
          <a:solidFill>
            <a:srgbClr val="DE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606040"/>
            <a:ext cx="25603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800" b="1" i="0">
                <a:solidFill>
                  <a:srgbClr val="14274A"/>
                </a:solidFill>
                <a:latin typeface="Aptos"/>
              </a:rPr>
              <a:t>3.75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898648"/>
            <a:ext cx="2560320" cy="164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900" b="0" i="0">
                <a:solidFill>
                  <a:srgbClr val="667488"/>
                </a:solidFill>
                <a:latin typeface="Aptos"/>
              </a:rPr>
              <a:t>Avg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29000"/>
            <a:ext cx="283464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100" b="1" i="0">
                <a:solidFill>
                  <a:srgbClr val="14274A"/>
                </a:solidFill>
                <a:latin typeface="Aptos"/>
              </a:rPr>
              <a:t>Revenue by 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4018787"/>
            <a:ext cx="384048" cy="78181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20240" y="4192524"/>
            <a:ext cx="384048" cy="608075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4600" y="4435754"/>
            <a:ext cx="384048" cy="364845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4583430"/>
            <a:ext cx="384048" cy="21717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429000"/>
            <a:ext cx="283464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100" b="1" i="0">
                <a:solidFill>
                  <a:srgbClr val="14274A"/>
                </a:solidFill>
                <a:latin typeface="Aptos"/>
              </a:rPr>
              <a:t>Revenue by age group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9" y="4062222"/>
            <a:ext cx="384048" cy="738378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66359" y="4175150"/>
            <a:ext cx="384048" cy="625449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19" y="4262018"/>
            <a:ext cx="384048" cy="538581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366260"/>
            <a:ext cx="384048" cy="434340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429000"/>
            <a:ext cx="283464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100" b="1" i="0">
                <a:solidFill>
                  <a:srgbClr val="14274A"/>
                </a:solidFill>
                <a:latin typeface="Aptos"/>
              </a:rPr>
              <a:t>Sales by category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3975354"/>
            <a:ext cx="384048" cy="825246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4192524"/>
            <a:ext cx="384048" cy="608075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4409694"/>
            <a:ext cx="384048" cy="390906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4583430"/>
            <a:ext cx="384048" cy="217170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559552"/>
            <a:ext cx="103327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000" b="0" i="1">
                <a:solidFill>
                  <a:srgbClr val="667488"/>
                </a:solidFill>
                <a:latin typeface="Aptos"/>
              </a:rPr>
              <a:t>Illustrative layout only — replace with the actual Power BI dashboard screenshot if desired.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14274A"/>
                </a:solidFill>
                <a:latin typeface="Aptos"/>
              </a:rPr>
              <a:t>Key Insights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0" cy="50292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900" b="0" i="0">
                <a:solidFill>
                  <a:srgbClr val="66748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800" b="0" i="0">
                <a:solidFill>
                  <a:srgbClr val="667488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47548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3832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Male records generated higher total purchase revenue than female records.</a:t>
            </a:r>
          </a:p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Gloves had the highest average rating among the top five products (3.86).</a:t>
            </a:r>
          </a:p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Express shipping had a higher average purchase amount than Standard shipping.</a:t>
            </a:r>
          </a:p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Hats had the highest discount-application rate (50.00%).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98448"/>
            <a:ext cx="47548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F919C"/>
                </a:solidFill>
                <a:latin typeface="Aptos"/>
              </a:rP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33832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Test loyalty rewards for repeat customers.</a:t>
            </a:r>
          </a:p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Review discount usage before changing promotions.</a:t>
            </a:r>
          </a:p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Promote products with strong average ratings.</a:t>
            </a:r>
          </a:p>
          <a:p>
            <a:pPr>
              <a:spcAft>
                <a:spcPts val="1000"/>
              </a:spcAft>
              <a:defRPr sz="1300">
                <a:solidFill>
                  <a:srgbClr val="283344"/>
                </a:solidFill>
                <a:latin typeface="Aptos"/>
              </a:defRPr>
            </a:pPr>
            <a:r>
              <a:t>•  Use subscription and age-group patterns to guide targeted marketing.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49240"/>
            <a:ext cx="10424160" cy="566928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13832"/>
            <a:ext cx="1005840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100" b="0" i="1">
                <a:solidFill>
                  <a:srgbClr val="667488"/>
                </a:solidFill>
                <a:latin typeface="Aptos"/>
              </a:rPr>
              <a:t>Treat findings as decision-support signals; validate actions with additional data and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6217920" cy="5943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463040"/>
            <a:ext cx="777240" cy="54864"/>
          </a:xfrm>
          <a:prstGeom prst="rect">
            <a:avLst/>
          </a:prstGeom>
          <a:solidFill>
            <a:srgbClr val="E2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7132320" cy="21031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Python prepared the data.
SQL answered the business questions.
Power BI made the patterns explorable.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1C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05088" y="2331720"/>
            <a:ext cx="2057400" cy="1371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2000" b="1" i="0">
                <a:solidFill>
                  <a:srgbClr val="DEE9F6"/>
                </a:solidFill>
                <a:latin typeface="Aptos"/>
              </a:rPr>
              <a:t>DATA
→ INSIGHT
→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DEE9F6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